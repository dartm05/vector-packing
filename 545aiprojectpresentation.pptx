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81" r:id="rId8"/>
    <p:sldId id="282" r:id="rId9"/>
    <p:sldId id="283" r:id="rId10"/>
    <p:sldId id="285" r:id="rId11"/>
    <p:sldId id="284" r:id="rId12"/>
    <p:sldId id="290" r:id="rId13"/>
    <p:sldId id="288" r:id="rId14"/>
    <p:sldId id="287" r:id="rId15"/>
    <p:sldId id="28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E3064-DD0C-4E83-A505-65756A1834EF}" v="10" dt="2025-11-14T04:33:09.208"/>
    <p1510:client id="{A94F1B60-1117-61EB-1BA9-73A0CEC57EFE}" v="38" dt="2025-11-14T04:32:58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0655" autoAdjust="0"/>
  </p:normalViewPr>
  <p:slideViewPr>
    <p:cSldViewPr snapToGrid="0">
      <p:cViewPr>
        <p:scale>
          <a:sx n="40" d="100"/>
          <a:sy n="40" d="100"/>
        </p:scale>
        <p:origin x="1680" y="41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508" y="3146910"/>
            <a:ext cx="5216682" cy="3200400"/>
          </a:xfrm>
        </p:spPr>
        <p:txBody>
          <a:bodyPr anchor="ctr"/>
          <a:lstStyle/>
          <a:p>
            <a:r>
              <a:rPr lang="en-US" dirty="0"/>
              <a:t>Multi-Dimensional bin packing problem (GA + wisdom of crowds)</a:t>
            </a:r>
            <a:br>
              <a:rPr lang="en-US" dirty="0"/>
            </a:br>
            <a:r>
              <a:rPr lang="en-US" sz="1600" dirty="0"/>
              <a:t>Daniella Arteaga Mendoza, Olivia Benner, Rinku deuja, Nate Eriksen, hannah winstead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874834" cy="1997867"/>
          </a:xfrm>
        </p:spPr>
        <p:txBody>
          <a:bodyPr/>
          <a:lstStyle/>
          <a:p>
            <a:r>
              <a:rPr lang="en-US" b="1" dirty="0"/>
              <a:t>Multi-dimensional bin packing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7DD9D6-63D1-12A1-49F5-7D6E15A18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2896897"/>
            <a:ext cx="10379927" cy="36444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MDBPP: Assigns  VMs (CPU, RAM, Storage) to physical servers</a:t>
            </a:r>
          </a:p>
          <a:p>
            <a:r>
              <a:rPr lang="en-US"/>
              <a:t>Goal: Minimize the number of servers used</a:t>
            </a:r>
          </a:p>
          <a:p>
            <a:r>
              <a:rPr lang="en-US"/>
              <a:t>Constraints: Server capacity cannot be exceeded in any dimension</a:t>
            </a:r>
          </a:p>
          <a:p>
            <a:r>
              <a:rPr lang="en-US"/>
              <a:t>Requires heuristics </a:t>
            </a:r>
            <a:r>
              <a:rPr lang="en-US" dirty="0"/>
              <a:t>due to NP-complete nature for large-scale VM assignments</a:t>
            </a:r>
          </a:p>
          <a:p>
            <a:r>
              <a:rPr lang="en-US" dirty="0"/>
              <a:t>Real-world relevance: Poor VM placement = waste or overload = higher costs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531" y="-666461"/>
            <a:ext cx="7288282" cy="2121177"/>
          </a:xfrm>
        </p:spPr>
        <p:txBody>
          <a:bodyPr/>
          <a:lstStyle/>
          <a:p>
            <a:r>
              <a:rPr lang="en-US" b="1" dirty="0"/>
              <a:t>Genetic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3508" y="1638321"/>
            <a:ext cx="9170755" cy="471758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Chromosome Representation: Each solution is a vector that assigns every virtual machine to a specific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Population Initialization: Uses 8 different starting strategies to ensure diverse initial solutions (random assign., largest/smallest-first, best-fit decreasing, worst-fit, CPU-first heuristic, RAM-first heuristic, storage-first priority)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Fitness Function = 100 x server count +wasted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Genetic Operators: Tournament selection, custom crossover, multiple mutation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Diversity Mechanisms: Immigration + adaptive mutation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Elitism: Top 10% preserved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0" dirty="0"/>
              <a:t>Stopping Criteria: Algorithm ends after 50-100 generations or when no progress occurs after 30 iterations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793" y="-175318"/>
            <a:ext cx="8420100" cy="1780860"/>
          </a:xfrm>
        </p:spPr>
        <p:txBody>
          <a:bodyPr/>
          <a:lstStyle/>
          <a:p>
            <a:r>
              <a:rPr lang="en-US" b="1" dirty="0"/>
              <a:t>Wisdom of crowds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953142" y="2161705"/>
            <a:ext cx="8420100" cy="399448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Uses top 20 GA solutions to identify which VMs frequently work well when placed on the same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Builds co-occurrence matrix showing how often VM pairs appear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Generates 10 new solutions using affinity-based heuristic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Blends pattern scores with resource-fit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Produces GA-quality solutions at a fraction of the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66" y="510506"/>
            <a:ext cx="9953308" cy="1232756"/>
          </a:xfrm>
        </p:spPr>
        <p:txBody>
          <a:bodyPr/>
          <a:lstStyle/>
          <a:p>
            <a:r>
              <a:rPr lang="en-US" b="1" dirty="0"/>
              <a:t>Test data &amp; Setup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5322" y="2111864"/>
            <a:ext cx="4867175" cy="395953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Used 4 dataset sizes to evaluate scalability: 20, 50, 100 and 200 VMs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VM resource has realistic CPU, RAM, and storage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Server limits modeled after typical datacenter machines to ensure realistic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GUI built in Tkinter for live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Tracks runtime, server count, fitness and GA vs. WOC placement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C6C7F2-769E-577A-FBB2-3985F646C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334" y="1884069"/>
            <a:ext cx="6048694" cy="419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821155"/>
          </a:xfrm>
        </p:spPr>
        <p:txBody>
          <a:bodyPr>
            <a:normAutofit/>
          </a:bodyPr>
          <a:lstStyle/>
          <a:p>
            <a:r>
              <a:rPr lang="en-US" b="1" dirty="0"/>
              <a:t>complexity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1588169"/>
            <a:ext cx="3247662" cy="446338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GA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 per generation: O(P x N²), dominated by crossover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runtime: O(G x P x N²)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Space complexity: O(P x N)</a:t>
            </a:r>
          </a:p>
          <a:p>
            <a:r>
              <a:rPr lang="en-US" b="1" dirty="0"/>
              <a:t>WOC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Pattern extraction + solution generation: O(N²)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Co-occurrence matrix dominated space: O(N²)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Much faster when GA generation count is large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" name="Picture 1" descr="A graph with a line and a red dot&#10;&#10;AI-generated content may be incorrect.">
            <a:extLst>
              <a:ext uri="{FF2B5EF4-FFF2-40B4-BE49-F238E27FC236}">
                <a16:creationId xmlns:a16="http://schemas.microsoft.com/office/drawing/2014/main" id="{F290BD5F-A70A-32ED-89B2-4B4C8C8EE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098" y="1625072"/>
            <a:ext cx="6096000" cy="3657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0046CB-53B7-47CE-6CEB-E1240E4A4819}"/>
              </a:ext>
            </a:extLst>
          </p:cNvPr>
          <p:cNvSpPr txBox="1"/>
          <p:nvPr/>
        </p:nvSpPr>
        <p:spPr>
          <a:xfrm>
            <a:off x="5334000" y="5449454"/>
            <a:ext cx="768927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enorite"/>
                <a:ea typeface="Courier New"/>
                <a:cs typeface="Courier New"/>
              </a:rPr>
              <a:t>• GA: O(G·P·N²) = O(50·50·N²) = O(2500·N²)</a:t>
            </a:r>
            <a:br>
              <a:rPr lang="en-US"/>
            </a:br>
            <a:r>
              <a:rPr lang="en-US">
                <a:latin typeface="Tenorite"/>
                <a:ea typeface="Courier New"/>
                <a:cs typeface="Courier New"/>
              </a:rPr>
              <a:t>• WOC: O(N²) (Pattern Analysis + Solution Building)</a:t>
            </a:r>
            <a:br>
              <a:rPr lang="en-US"/>
            </a:br>
            <a:r>
              <a:rPr lang="en-US">
                <a:latin typeface="Tenorite"/>
                <a:ea typeface="Courier New"/>
                <a:cs typeface="Courier New"/>
              </a:rPr>
              <a:t>• Ratio: GA/WOC ≈ 2500:1 for same problem size</a:t>
            </a:r>
            <a:endParaRPr lang="en-US">
              <a:latin typeface="Tenorite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b="1" dirty="0"/>
              <a:t>Results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631B32-6782-FEAD-FFF5-5C1F313FEE27}"/>
              </a:ext>
            </a:extLst>
          </p:cNvPr>
          <p:cNvSpPr txBox="1"/>
          <p:nvPr/>
        </p:nvSpPr>
        <p:spPr>
          <a:xfrm>
            <a:off x="689811" y="1989221"/>
            <a:ext cx="4874561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solution quality for all dataset sizes (servers used, fitness)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WOC greatly reduces runtime: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Small datasets: 36x faster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Medium datasets: 10x faster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Large datasets: 4x faster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Extra-large datasets: 1.7x faster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VM placements can yield the same fitness verifying multiple near-optimal solutions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WOC maintains quality while reducing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15F0FE1E-F64C-F3A4-0010-B51A9911F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277" y="2485512"/>
            <a:ext cx="6088646" cy="178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347" y="-653594"/>
            <a:ext cx="5655197" cy="1997867"/>
          </a:xfrm>
        </p:spPr>
        <p:txBody>
          <a:bodyPr anchor="b"/>
          <a:lstStyle/>
          <a:p>
            <a:r>
              <a:rPr lang="en-US" b="1" dirty="0"/>
              <a:t>Key Findings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9521" y="1503080"/>
            <a:ext cx="5129464" cy="3851840"/>
          </a:xfrm>
        </p:spPr>
        <p:txBody>
          <a:bodyPr>
            <a:noAutofit/>
          </a:bodyPr>
          <a:lstStyle/>
          <a:p>
            <a:r>
              <a:rPr lang="en-US"/>
              <a:t>Hybrid GA + WOC approach matches GA’s solution quality while cutting execution time significantly</a:t>
            </a:r>
          </a:p>
          <a:p>
            <a:r>
              <a:rPr lang="en-US"/>
              <a:t>Speedup inversely proportional to problem size</a:t>
            </a:r>
          </a:p>
          <a:p>
            <a:r>
              <a:rPr lang="en-US"/>
              <a:t>The GA generates strong solutions early on, giving WOC high-quality patterns to learn from</a:t>
            </a:r>
          </a:p>
          <a:p>
            <a:r>
              <a:rPr lang="en-US"/>
              <a:t>WOC accurately identifies VM groupings, helping it recreate strong solutions quickly</a:t>
            </a:r>
          </a:p>
          <a:p>
            <a:r>
              <a:rPr lang="en-US"/>
              <a:t>Large datasets show high solution diversity (82-94% different placements), confirming many near-optimal configurations</a:t>
            </a:r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2611BB-91D8-3315-4E7D-522A7E40E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918"/>
          <a:stretch>
            <a:fillRect/>
          </a:stretch>
        </p:blipFill>
        <p:spPr>
          <a:xfrm>
            <a:off x="5636872" y="1170757"/>
            <a:ext cx="6155607" cy="518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C5CC7-1F19-F999-4D59-CE7A93A7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735" y="188155"/>
            <a:ext cx="10515600" cy="1325563"/>
          </a:xfrm>
        </p:spPr>
        <p:txBody>
          <a:bodyPr/>
          <a:lstStyle/>
          <a:p>
            <a:pPr algn="l"/>
            <a:r>
              <a:rPr lang="en-US"/>
              <a:t>GUI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583CA-D671-C298-4FC8-C1FC027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E680F-E6BA-3E83-AEC8-ED288C181D89}"/>
              </a:ext>
            </a:extLst>
          </p:cNvPr>
          <p:cNvSpPr txBox="1"/>
          <p:nvPr/>
        </p:nvSpPr>
        <p:spPr>
          <a:xfrm>
            <a:off x="462782" y="1906972"/>
            <a:ext cx="4597446" cy="46320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ts val="3000"/>
              </a:lnSpc>
              <a:buFont typeface=""/>
              <a:buChar char="•"/>
            </a:pPr>
            <a:r>
              <a:rPr lang="en-US" sz="2000" dirty="0">
                <a:cs typeface="Arial"/>
              </a:rPr>
              <a:t>Built with Python Tkinter</a:t>
            </a:r>
          </a:p>
          <a:p>
            <a:pPr marL="228600" indent="-228600">
              <a:lnSpc>
                <a:spcPts val="3000"/>
              </a:lnSpc>
              <a:buFont typeface=""/>
              <a:buChar char="•"/>
            </a:pPr>
            <a:r>
              <a:rPr lang="en-US" sz="2000" dirty="0">
                <a:cs typeface="Arial"/>
              </a:rPr>
              <a:t>Displays real-time logs of GA + WOC progress</a:t>
            </a:r>
          </a:p>
          <a:p>
            <a:pPr marL="228600" indent="-228600">
              <a:lnSpc>
                <a:spcPts val="3000"/>
              </a:lnSpc>
              <a:buFont typeface=""/>
              <a:buChar char="•"/>
            </a:pPr>
            <a:r>
              <a:rPr lang="en-US" sz="2000" dirty="0">
                <a:cs typeface="Arial"/>
              </a:rPr>
              <a:t>Visualizes VM-to-server assignments</a:t>
            </a:r>
          </a:p>
          <a:p>
            <a:pPr marL="228600" indent="-228600">
              <a:lnSpc>
                <a:spcPts val="3000"/>
              </a:lnSpc>
              <a:buFont typeface=""/>
              <a:buChar char="•"/>
            </a:pPr>
            <a:r>
              <a:rPr lang="en-US" sz="2000" dirty="0">
                <a:cs typeface="Arial"/>
              </a:rPr>
              <a:t>Allows easy comparison of GA vs WOC outcomes</a:t>
            </a:r>
          </a:p>
          <a:p>
            <a:pPr marL="228600" indent="-228600">
              <a:lnSpc>
                <a:spcPts val="3000"/>
              </a:lnSpc>
              <a:buFont typeface=""/>
              <a:buChar char="•"/>
            </a:pPr>
            <a:r>
              <a:rPr lang="en-US" sz="2000" dirty="0">
                <a:cs typeface="Arial"/>
              </a:rPr>
              <a:t>Helps verify correctness and demonstrate performance improvements</a:t>
            </a:r>
          </a:p>
          <a:p>
            <a:pPr marL="228600" indent="-228600">
              <a:lnSpc>
                <a:spcPts val="3000"/>
              </a:lnSpc>
              <a:buFont typeface=""/>
              <a:buChar char="•"/>
            </a:pPr>
            <a:endParaRPr lang="en-US" sz="2000" dirty="0"/>
          </a:p>
          <a:p>
            <a:pPr marL="228600" indent="-228600">
              <a:lnSpc>
                <a:spcPts val="3000"/>
              </a:lnSpc>
              <a:buFont typeface=""/>
              <a:buChar char="•"/>
            </a:pPr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346E7E-D4AD-508C-8E86-D47EEA4FA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321" y="1679113"/>
            <a:ext cx="6584350" cy="409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79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0A3C-2243-8188-06D9-0A590313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32" y="537519"/>
            <a:ext cx="7288282" cy="1058042"/>
          </a:xfrm>
        </p:spPr>
        <p:txBody>
          <a:bodyPr/>
          <a:lstStyle/>
          <a:p>
            <a:r>
              <a:rPr lang="en-US" dirty="0"/>
              <a:t>Analysis &amp;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C1B1B-F97F-E8BA-41BB-037A3C41C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7878" y="1982113"/>
            <a:ext cx="4950076" cy="325271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Runtime growth matches theoretical complexity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WOC’s fixed O(N²) cost becomes increasingly beneficial as problem size grows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Early stopping + adaptive mutation reduce effective GA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Pairwise VM frequency patterns reveal strong VM pairings and resource synergies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Hybrid approach balances exploration (GA) + exploitation (WOC)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5B5AE-27D7-3C6A-5E47-28BC629D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15CFE415-D0DB-91CD-B3BA-494AACC1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678"/>
          <a:stretch>
            <a:fillRect/>
          </a:stretch>
        </p:blipFill>
        <p:spPr>
          <a:xfrm>
            <a:off x="6096000" y="1772988"/>
            <a:ext cx="5710131" cy="438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64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E0CF4-8303-C4A5-9CBF-21F536E9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30" y="434130"/>
            <a:ext cx="3327710" cy="946486"/>
          </a:xfrm>
        </p:spPr>
        <p:txBody>
          <a:bodyPr/>
          <a:lstStyle/>
          <a:p>
            <a:r>
              <a:rPr lang="en-US" dirty="0"/>
              <a:t>Tradeoffs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97704-10A0-CA4C-72CA-2EC0F8332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09" y="1655358"/>
            <a:ext cx="4377491" cy="4906627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WOC’s memory and processing cost grow as O(N²), making it heavier on large VM 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Speedups shrink at 200 VMs due to large pattern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hybrid approach adds development complexity due to extra pattern analysis &amp;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For very small problems, GA alone may be sufficient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Still strong benefits for 20-100 VM deployments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452A6-CAC4-F3E0-BDC8-EA9D1692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4F03B-52D8-B9E6-C6CB-0AF29024B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46"/>
          <a:stretch>
            <a:fillRect/>
          </a:stretch>
        </p:blipFill>
        <p:spPr>
          <a:xfrm>
            <a:off x="5037221" y="1179094"/>
            <a:ext cx="6925074" cy="490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3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2411-48CF-1BC0-C825-AE1260E1C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059" y="568961"/>
            <a:ext cx="8989741" cy="1780860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AC8D0-5224-DE6D-D908-BA1A233C269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269547" y="2773513"/>
            <a:ext cx="8989741" cy="395453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Hybrid GA + WOC solves MDBPP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Achieves 1.7x to 36x faster runtime with same solution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Effective for real-world VM placement in cloud infrastructures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Uses learned VM placement patterns to speed up convergence toward optimal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Promising for large-scale optimization &amp; dynamic workloads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3891-939D-7250-0240-07E8F011F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105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sz="4400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{09E31619-F4B6-4B1A-9E20-5F7E9672952F}TF7521aafa-c748-4c40-a498-ba511be234dc5b1b6097_win32-5039330bb2f3</Template>
  <TotalTime>2038</TotalTime>
  <Words>760</Words>
  <Application>Microsoft Office PowerPoint</Application>
  <PresentationFormat>Widescreen</PresentationFormat>
  <Paragraphs>103</Paragraphs>
  <Slides>13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Multi-Dimensional bin packing problem (GA + wisdom of crowds) Daniella Arteaga Mendoza, Olivia Benner, Rinku deuja, Nate Eriksen, hannah winstead</vt:lpstr>
      <vt:lpstr>Multi-dimensional bin packing</vt:lpstr>
      <vt:lpstr>Genetic Algorithm</vt:lpstr>
      <vt:lpstr>Wisdom of crowds</vt:lpstr>
      <vt:lpstr>Test data &amp; Setup</vt:lpstr>
      <vt:lpstr>complexity</vt:lpstr>
      <vt:lpstr>Results</vt:lpstr>
      <vt:lpstr>Key Findings</vt:lpstr>
      <vt:lpstr>GUI IMPLEMENTATION</vt:lpstr>
      <vt:lpstr>Analysis &amp; interpretation</vt:lpstr>
      <vt:lpstr>Tradeoffs &amp; limitations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hannah winstead</dc:creator>
  <cp:lastModifiedBy>hannah winstead</cp:lastModifiedBy>
  <cp:revision>53</cp:revision>
  <dcterms:created xsi:type="dcterms:W3CDTF">2025-11-12T18:11:54Z</dcterms:created>
  <dcterms:modified xsi:type="dcterms:W3CDTF">2025-11-14T04:33:16Z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